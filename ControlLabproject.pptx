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1E1CF-0AD7-4574-AF0C-75BCC91E8B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5A69-7E9B-4C1A-B2D7-85A72A5A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639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1E1CF-0AD7-4574-AF0C-75BCC91E8B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5A69-7E9B-4C1A-B2D7-85A72A5A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232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1E1CF-0AD7-4574-AF0C-75BCC91E8B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5A69-7E9B-4C1A-B2D7-85A72A5A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148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1E1CF-0AD7-4574-AF0C-75BCC91E8B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5A69-7E9B-4C1A-B2D7-85A72A5A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432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1E1CF-0AD7-4574-AF0C-75BCC91E8B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5A69-7E9B-4C1A-B2D7-85A72A5A290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998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1E1CF-0AD7-4574-AF0C-75BCC91E8B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5A69-7E9B-4C1A-B2D7-85A72A5A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22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1E1CF-0AD7-4574-AF0C-75BCC91E8B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5A69-7E9B-4C1A-B2D7-85A72A5A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74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1E1CF-0AD7-4574-AF0C-75BCC91E8B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5A69-7E9B-4C1A-B2D7-85A72A5A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190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911E1CF-0AD7-4574-AF0C-75BCC91E8B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5A69-7E9B-4C1A-B2D7-85A72A5A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3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1E1CF-0AD7-4574-AF0C-75BCC91E8B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5A69-7E9B-4C1A-B2D7-85A72A5A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445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1E1CF-0AD7-4574-AF0C-75BCC91E8B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5A69-7E9B-4C1A-B2D7-85A72A5A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09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911E1CF-0AD7-4574-AF0C-75BCC91E8B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EF05A69-7E9B-4C1A-B2D7-85A72A5A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70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E332F-99F1-40ED-8470-F6A193710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284" y="410568"/>
            <a:ext cx="9440034" cy="1049867"/>
          </a:xfrm>
          <a:ln>
            <a:solidFill>
              <a:schemeClr val="accent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26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Project_Furuta</a:t>
            </a:r>
            <a:r>
              <a:rPr lang="en-US" sz="2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pendulum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64E7FF-DEB5-443D-86DD-C10319B1B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2045616"/>
            <a:ext cx="5844618" cy="4812384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Project overview :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1.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 this project, you will model a rotary inverted pendulum using the Lagrangian method. </a:t>
            </a:r>
          </a:p>
          <a:p>
            <a:pPr algn="l"/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2.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objective is to derive the equations of motion of the system, 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3.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Linearize the system around the equilibrium point (where     the pendulum is upright), 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4.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Obtain the state-space representation of the system, and apply a control algorithm to balance the pendulum. 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5.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This project will enhance your understanding of dynamics, control theory, and modeling physical systems. 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pPr algn="l"/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1E2856-A520-4D55-AE3A-DFF6C52339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0" t="3024" r="2733" b="2956"/>
          <a:stretch/>
        </p:blipFill>
        <p:spPr>
          <a:xfrm>
            <a:off x="6244301" y="2045615"/>
            <a:ext cx="5947698" cy="48123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4043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45803EC-3530-4B9A-AB17-24296C2A00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98" r="16314"/>
          <a:stretch/>
        </p:blipFill>
        <p:spPr>
          <a:xfrm>
            <a:off x="6457361" y="-7288"/>
            <a:ext cx="5734639" cy="6865288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6AB8FFCC-1948-4B4D-90B0-8FC8A9452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334812" cy="6858000"/>
          </a:xfrm>
          <a:ln>
            <a:solidFill>
              <a:schemeClr val="accent1">
                <a:lumMod val="50000"/>
              </a:schemeClr>
            </a:solidFill>
          </a:ln>
        </p:spPr>
        <p:txBody>
          <a:bodyPr anchor="t">
            <a:normAutofit/>
          </a:bodyPr>
          <a:lstStyle/>
          <a:p>
            <a:r>
              <a:rPr lang="en-US" sz="2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Furuta pendulum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07A1BFE-4AE0-4813-85D9-4EC975397FA9}"/>
                  </a:ext>
                </a:extLst>
              </p:cNvPr>
              <p:cNvSpPr txBox="1"/>
              <p:nvPr/>
            </p:nvSpPr>
            <p:spPr>
              <a:xfrm>
                <a:off x="0" y="588848"/>
                <a:ext cx="6414940" cy="62691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b="1" dirty="0">
                    <a:solidFill>
                      <a:schemeClr val="bg1"/>
                    </a:solidFill>
                  </a:rPr>
                  <a:t>Kinetic equations:</a:t>
                </a:r>
              </a:p>
              <a:p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</a:rPr>
                  <a:t>Consider: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</a:rPr>
                  <a:t> (center of mass of the </a:t>
                </a:r>
                <a:r>
                  <a:rPr lang="en-US" dirty="0" err="1">
                    <a:solidFill>
                      <a:schemeClr val="accent3">
                        <a:lumMod val="75000"/>
                      </a:schemeClr>
                    </a:solidFill>
                  </a:rPr>
                  <a:t>pendelum</a:t>
                </a:r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</a:rPr>
                  <a:t>)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𝑝𝑒𝑛𝑑𝑒𝑙𝑢𝑚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𝑎𝑟𝑚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#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eqArr>
                    </m:oMath>
                  </m:oMathPara>
                </a14:m>
                <a:endParaRPr lang="en-US" b="0" dirty="0">
                  <a:solidFill>
                    <a:schemeClr val="accent3">
                      <a:lumMod val="75000"/>
                    </a:schemeClr>
                  </a:solidFill>
                </a:endParaRPr>
              </a:p>
              <a:p>
                <a:pPr algn="ctr"/>
                <a:endParaRPr lang="en-US" b="0" dirty="0">
                  <a:solidFill>
                    <a:schemeClr val="accent3">
                      <a:lumMod val="75000"/>
                    </a:schemeClr>
                  </a:solidFill>
                </a:endParaRPr>
              </a:p>
              <a:p>
                <a:r>
                  <a:rPr lang="en-US" b="0" dirty="0">
                    <a:solidFill>
                      <a:schemeClr val="accent3">
                        <a:lumMod val="75000"/>
                      </a:schemeClr>
                    </a:solidFill>
                  </a:rPr>
                  <a:t>- For the </a:t>
                </a:r>
                <a:r>
                  <a:rPr lang="en-US" b="0" dirty="0" err="1">
                    <a:solidFill>
                      <a:schemeClr val="accent3">
                        <a:lumMod val="75000"/>
                      </a:schemeClr>
                    </a:solidFill>
                  </a:rPr>
                  <a:t>rottery</a:t>
                </a:r>
                <a:r>
                  <a:rPr lang="en-US" b="0" dirty="0">
                    <a:solidFill>
                      <a:schemeClr val="accent3">
                        <a:lumMod val="75000"/>
                      </a:schemeClr>
                    </a:solidFill>
                  </a:rPr>
                  <a:t> arm: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𝑎𝑟𝑚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>
                  <a:solidFill>
                    <a:schemeClr val="accent3">
                      <a:lumMod val="75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</a:rPr>
                  <a:t>- For the pendulum:</a:t>
                </a:r>
              </a:p>
              <a:p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</a:rPr>
                  <a:t>Translational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𝑝𝑒𝑛𝑑</m:t>
                          </m:r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𝑡𝑟𝑎𝑛𝑠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𝑟𝑙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f>
                            <m:fPr>
                              <m:ctrlP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3">
                      <a:lumMod val="75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</a:rPr>
                  <a:t>Rotational : 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𝑝𝑒𝑛𝑑</m:t>
                        </m:r>
                        <m:r>
                          <a:rPr lang="en-US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𝑟𝑜𝑡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0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0" smtClean="0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i="1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i="1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0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endParaRPr lang="en-US" dirty="0">
                  <a:solidFill>
                    <a:schemeClr val="accent3">
                      <a:lumMod val="75000"/>
                    </a:schemeClr>
                  </a:solidFill>
                </a:endParaRPr>
              </a:p>
              <a:p>
                <a:endParaRPr lang="en-US" dirty="0">
                  <a:solidFill>
                    <a:schemeClr val="accent3">
                      <a:lumMod val="75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𝑟𝑙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f>
                            <m:fPr>
                              <m:ctrlP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e>
                      </m:d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>
                          <a:solidFill>
                            <a:schemeClr val="accent3">
                              <a:lumMod val="75000"/>
                            </a:schemeClr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07A1BFE-4AE0-4813-85D9-4EC975397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88848"/>
                <a:ext cx="6414940" cy="6269152"/>
              </a:xfrm>
              <a:prstGeom prst="rect">
                <a:avLst/>
              </a:prstGeom>
              <a:blipFill>
                <a:blip r:embed="rId3"/>
                <a:stretch>
                  <a:fillRect l="-760" t="-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4707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ACD0D6B6-9B5D-4D45-BDD9-C349BD6FF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2997161"/>
          </a:xfrm>
          <a:ln>
            <a:solidFill>
              <a:schemeClr val="accent1">
                <a:lumMod val="50000"/>
              </a:schemeClr>
            </a:solidFill>
          </a:ln>
        </p:spPr>
        <p:txBody>
          <a:bodyPr anchor="t">
            <a:normAutofit/>
          </a:bodyPr>
          <a:lstStyle/>
          <a:p>
            <a:r>
              <a:rPr lang="en-US" sz="2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Furuta pendulum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C63870-73A0-42E2-83B8-299A25790948}"/>
                  </a:ext>
                </a:extLst>
              </p:cNvPr>
              <p:cNvSpPr txBox="1"/>
              <p:nvPr/>
            </p:nvSpPr>
            <p:spPr>
              <a:xfrm>
                <a:off x="24499" y="565321"/>
                <a:ext cx="6071501" cy="24480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</a:rPr>
                  <a:t>Potential equation for the center of mass of the pendulum: </a:t>
                </a:r>
              </a:p>
              <a:p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</a:rPr>
                  <a:t>Center of mas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b="0" dirty="0">
                  <a:solidFill>
                    <a:schemeClr val="accent3">
                      <a:lumMod val="75000"/>
                    </a:schemeClr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b="0" i="0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𝑔𝑙𝑐𝑜𝑠</m:t>
                          </m:r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#</m:t>
                          </m:r>
                          <m:d>
                            <m:dPr>
                              <m:ctrlPr>
                                <a:rPr lang="en-US" b="0" i="0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eqArr>
                    </m:oMath>
                  </m:oMathPara>
                </a14:m>
                <a:endParaRPr lang="en-US" b="0" dirty="0">
                  <a:solidFill>
                    <a:schemeClr val="accent3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  <a:p>
                <a:pPr algn="l"/>
                <a:endParaRPr lang="en-US" sz="1800" b="0" i="0" u="none" strike="noStrike" baseline="0" dirty="0">
                  <a:solidFill>
                    <a:srgbClr val="000000"/>
                  </a:solidFill>
                </a:endParaRPr>
              </a:p>
              <a:p>
                <a:r>
                  <a:rPr lang="en-US" sz="1800" b="0" i="0" u="none" strike="noStrike" baseline="0" dirty="0">
                    <a:solidFill>
                      <a:schemeClr val="accent3">
                        <a:lumMod val="75000"/>
                      </a:schemeClr>
                    </a:solidFill>
                  </a:rPr>
                  <a:t>Lagrangian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</a:rPr>
                  <a:t> </a:t>
                </a:r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</a:rPr>
                  <a:t>L of the system: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#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eqArr>
                    </m:oMath>
                  </m:oMathPara>
                </a14:m>
                <a:endParaRPr lang="en-US" b="0" i="1" dirty="0">
                  <a:solidFill>
                    <a:schemeClr val="accent3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chemeClr val="accent3">
                      <a:lumMod val="75000"/>
                    </a:schemeClr>
                  </a:solidFill>
                </a:endParaRPr>
              </a:p>
              <a:p>
                <a:endParaRPr lang="en-US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C63870-73A0-42E2-83B8-299A25790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9" y="565321"/>
                <a:ext cx="6071501" cy="2448042"/>
              </a:xfrm>
              <a:prstGeom prst="rect">
                <a:avLst/>
              </a:prstGeom>
              <a:blipFill>
                <a:blip r:embed="rId2"/>
                <a:stretch>
                  <a:fillRect l="-803" t="-1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Modelling an inverted pendulum – deriving a mathematical model - karooza.net">
            <a:extLst>
              <a:ext uri="{FF2B5EF4-FFF2-40B4-BE49-F238E27FC236}">
                <a16:creationId xmlns:a16="http://schemas.microsoft.com/office/drawing/2014/main" id="{DE392BC7-426E-49A1-B5D5-636950BA7F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2"/>
          <a:stretch/>
        </p:blipFill>
        <p:spPr bwMode="auto">
          <a:xfrm>
            <a:off x="2805112" y="3013363"/>
            <a:ext cx="6581775" cy="384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5C75AD-C339-41D5-98CE-10C0C596E85E}"/>
                  </a:ext>
                </a:extLst>
              </p:cNvPr>
              <p:cNvSpPr txBox="1"/>
              <p:nvPr/>
            </p:nvSpPr>
            <p:spPr>
              <a:xfrm>
                <a:off x="6096000" y="564872"/>
                <a:ext cx="6071501" cy="2523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</a:rPr>
                  <a:t>Cacu</a:t>
                </a:r>
                <a:r>
                  <a:rPr lang="en-US" dirty="0" err="1">
                    <a:solidFill>
                      <a:schemeClr val="accent3">
                        <a:lumMod val="75000"/>
                      </a:schemeClr>
                    </a:solidFill>
                  </a:rPr>
                  <a:t>lating</a:t>
                </a:r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</a:rPr>
                  <a:t> 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2000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i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i="1" dirty="0">
                  <a:solidFill>
                    <a:schemeClr val="accent3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solidFill>
                                            <a:schemeClr val="accent3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𝑟𝑙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f>
                            <m:fPr>
                              <m:ctrlP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i="1" dirty="0">
                  <a:solidFill>
                    <a:schemeClr val="accent3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>
                          <a:solidFill>
                            <a:schemeClr val="accent3">
                              <a:lumMod val="75000"/>
                            </a:schemeClr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i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𝑔𝑙𝑐𝑜𝑠</m:t>
                      </m:r>
                      <m:r>
                        <a:rPr lang="en-US" i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5C75AD-C339-41D5-98CE-10C0C596E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64872"/>
                <a:ext cx="6071501" cy="2523768"/>
              </a:xfrm>
              <a:prstGeom prst="rect">
                <a:avLst/>
              </a:prstGeom>
              <a:blipFill>
                <a:blip r:embed="rId4"/>
                <a:stretch>
                  <a:fillRect l="-803" t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9CA7BFF-1762-4E4D-A785-76E81A34F118}"/>
              </a:ext>
            </a:extLst>
          </p:cNvPr>
          <p:cNvCxnSpPr>
            <a:cxnSpLocks/>
          </p:cNvCxnSpPr>
          <p:nvPr/>
        </p:nvCxnSpPr>
        <p:spPr>
          <a:xfrm>
            <a:off x="6095999" y="634948"/>
            <a:ext cx="0" cy="229281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AA3EB56-5880-44FF-9B33-6937781FDC50}"/>
              </a:ext>
            </a:extLst>
          </p:cNvPr>
          <p:cNvCxnSpPr>
            <a:cxnSpLocks/>
          </p:cNvCxnSpPr>
          <p:nvPr/>
        </p:nvCxnSpPr>
        <p:spPr>
          <a:xfrm flipH="1">
            <a:off x="24499" y="634948"/>
            <a:ext cx="60715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BA17EA6-5C30-4843-8702-91C7DEC3B7DF}"/>
              </a:ext>
            </a:extLst>
          </p:cNvPr>
          <p:cNvCxnSpPr>
            <a:cxnSpLocks/>
          </p:cNvCxnSpPr>
          <p:nvPr/>
        </p:nvCxnSpPr>
        <p:spPr>
          <a:xfrm flipH="1">
            <a:off x="6095999" y="634948"/>
            <a:ext cx="60715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7843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ACD0D6B6-9B5D-4D45-BDD9-C349BD6FF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6293" y="67112"/>
            <a:ext cx="5019413" cy="1006679"/>
          </a:xfrm>
          <a:ln>
            <a:solidFill>
              <a:schemeClr val="accent1">
                <a:lumMod val="50000"/>
              </a:schemeClr>
            </a:solidFill>
          </a:ln>
        </p:spPr>
        <p:txBody>
          <a:bodyPr anchor="t">
            <a:normAutofit/>
          </a:bodyPr>
          <a:lstStyle/>
          <a:p>
            <a:r>
              <a:rPr lang="en-US" sz="2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Furuta pendulum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B8B64AD-C655-44B1-A6B4-84C4FF6B9567}"/>
                  </a:ext>
                </a:extLst>
              </p:cNvPr>
              <p:cNvSpPr/>
              <p:nvPr/>
            </p:nvSpPr>
            <p:spPr>
              <a:xfrm>
                <a:off x="187757" y="1177029"/>
                <a:ext cx="11586322" cy="5599651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t"/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For convenience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𝑟𝑙</m:t>
                      </m:r>
                    </m:oMath>
                  </m:oMathPara>
                </a14:m>
                <a:endParaRPr lang="en-US" b="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𝑔𝑙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>
                  <a:solidFill>
                    <a:schemeClr val="bg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is the input  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Applying the Lagrangian for v=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and v=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:</a:t>
                </a:r>
                <a:endParaRPr lang="en-US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eqArr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=0#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e>
                      </m:eqArr>
                    </m:oMath>
                  </m:oMathPara>
                </a14:m>
                <a:endParaRPr lang="en-US" b="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  <a:p>
                <a:endParaRPr lang="en-US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acc>
                            <m:accPr>
                              <m:chr m:val="̇"/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#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e>
                      </m:eqArr>
                    </m:oMath>
                  </m:oMathPara>
                </a14:m>
                <a:endParaRPr lang="en-US" b="0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With respect to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acc>
                            <m:accPr>
                              <m:chr m:val="̈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acc>
                            <m:accPr>
                              <m:chr m:val="̈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#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e>
                          </m:d>
                        </m:e>
                      </m:eqArr>
                    </m:oMath>
                  </m:oMathPara>
                </a14:m>
                <a:endParaRPr lang="en-US" b="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  <a:p>
                <a:endParaRPr lang="en-US" b="0" dirty="0">
                  <a:solidFill>
                    <a:schemeClr val="bg1"/>
                  </a:solidFill>
                </a:endParaRPr>
              </a:p>
              <a:p>
                <a:r>
                  <a:rPr lang="en-US" b="0" dirty="0">
                    <a:solidFill>
                      <a:schemeClr val="bg1"/>
                    </a:solidFill>
                  </a:rPr>
                  <a:t>With respect to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b="0" dirty="0">
                    <a:solidFill>
                      <a:schemeClr val="bg1"/>
                    </a:solidFill>
                  </a:rPr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acc>
                            <m:accPr>
                              <m:chr m:val="̈"/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acc>
                            <m:accPr>
                              <m:chr m:val="̈"/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=0#(7)</m:t>
                          </m:r>
                        </m:e>
                      </m:eqArr>
                    </m:oMath>
                  </m:oMathPara>
                </a14:m>
                <a:endParaRPr lang="en-US" b="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  <a:p>
                <a:pPr algn="ctr"/>
                <a:r>
                  <a:rPr lang="en-US" b="0" dirty="0">
                    <a:solidFill>
                      <a:schemeClr val="bg1"/>
                    </a:solidFill>
                  </a:rPr>
                  <a:t> 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B8B64AD-C655-44B1-A6B4-84C4FF6B95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57" y="1177029"/>
                <a:ext cx="11586322" cy="5599651"/>
              </a:xfrm>
              <a:prstGeom prst="rect">
                <a:avLst/>
              </a:prstGeom>
              <a:blipFill>
                <a:blip r:embed="rId2"/>
                <a:stretch>
                  <a:fillRect l="-421" t="-434"/>
                </a:stretch>
              </a:blipFill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C5B22F2-306A-4CE4-AF5A-D5AEF7F7BA41}"/>
              </a:ext>
            </a:extLst>
          </p:cNvPr>
          <p:cNvSpPr/>
          <p:nvPr/>
        </p:nvSpPr>
        <p:spPr>
          <a:xfrm>
            <a:off x="3682180" y="5123287"/>
            <a:ext cx="4558465" cy="62917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3531DC-05B9-44F4-9077-A991F3739F23}"/>
              </a:ext>
            </a:extLst>
          </p:cNvPr>
          <p:cNvSpPr/>
          <p:nvPr/>
        </p:nvSpPr>
        <p:spPr>
          <a:xfrm>
            <a:off x="4731038" y="3173369"/>
            <a:ext cx="2594806" cy="72565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66162D-C52E-4DE0-9B4E-71CCD90CC0A1}"/>
              </a:ext>
            </a:extLst>
          </p:cNvPr>
          <p:cNvSpPr/>
          <p:nvPr/>
        </p:nvSpPr>
        <p:spPr>
          <a:xfrm>
            <a:off x="3586293" y="4099070"/>
            <a:ext cx="4690842" cy="62917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B240FB-A1CC-4C89-A8E5-DCACB7019FB1}"/>
              </a:ext>
            </a:extLst>
          </p:cNvPr>
          <p:cNvSpPr/>
          <p:nvPr/>
        </p:nvSpPr>
        <p:spPr>
          <a:xfrm>
            <a:off x="3912123" y="5949983"/>
            <a:ext cx="4232635" cy="62917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9435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ACD0D6B6-9B5D-4D45-BDD9-C349BD6FF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6293" y="67112"/>
            <a:ext cx="5019413" cy="1006679"/>
          </a:xfrm>
          <a:ln>
            <a:solidFill>
              <a:schemeClr val="accent1">
                <a:lumMod val="50000"/>
              </a:schemeClr>
            </a:solidFill>
          </a:ln>
        </p:spPr>
        <p:txBody>
          <a:bodyPr anchor="t">
            <a:normAutofit/>
          </a:bodyPr>
          <a:lstStyle/>
          <a:p>
            <a:r>
              <a:rPr lang="en-US" sz="2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Furuta pendulum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B8B64AD-C655-44B1-A6B4-84C4FF6B9567}"/>
                  </a:ext>
                </a:extLst>
              </p:cNvPr>
              <p:cNvSpPr/>
              <p:nvPr/>
            </p:nvSpPr>
            <p:spPr>
              <a:xfrm>
                <a:off x="234891" y="1191237"/>
                <a:ext cx="11699444" cy="5599651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t"/>
              <a:lstStyle/>
              <a:p>
                <a:r>
                  <a:rPr lang="en-US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L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ineari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𝑠𝑖𝑛𝑔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𝑎𝑟𝑜𝑢𝑛𝑑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 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: Applying small angle approximation :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func>
                    <m:r>
                      <a:rPr lang="el-GR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≈1</m:t>
                    </m:r>
                  </m:oMath>
                </a14:m>
                <a:endParaRPr lang="en-US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func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 b="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func>
                    <m:acc>
                      <m:accPr>
                        <m:chr m:val="̇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</m:t>
                    </m:r>
                  </m:oMath>
                </a14:m>
                <a:endParaRPr lang="en-US" b="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̈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acc>
                        <m:accPr>
                          <m:chr m:val="̈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acc>
                        <m:accPr>
                          <m:chr m:val="̈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acc>
                        <m:accPr>
                          <m:chr m:val="̈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  <a:p>
                <a:endParaRPr lang="en-US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L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inearising</m:t>
                    </m:r>
                    <m: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ar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𝑜𝑢𝑛𝑑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: Expanding trigonometric terms: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 b="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</m:func>
                  </m:oMath>
                </a14:m>
                <a:endParaRPr lang="en-US" b="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func>
                  </m:oMath>
                </a14:m>
                <a:endParaRPr lang="en-US" b="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sin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acc>
                      <m:accPr>
                        <m:chr m:val="̇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</m:t>
                    </m:r>
                  </m:oMath>
                </a14:m>
                <a:endParaRPr lang="en-US" b="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̈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acc>
                        <m:accPr>
                          <m:chr m:val="̈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acc>
                        <m:accPr>
                          <m:chr m:val="̈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acc>
                        <m:accPr>
                          <m:chr m:val="̈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b="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  <a:p>
                <a:endParaRPr lang="en-US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  <a:p>
                <a:endParaRPr lang="en-US" dirty="0">
                  <a:solidFill>
                    <a:schemeClr val="accent3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:endParaRPr lang="en-US" b="0" dirty="0">
                  <a:solidFill>
                    <a:schemeClr val="accent3">
                      <a:lumMod val="75000"/>
                    </a:schemeClr>
                  </a:solidFill>
                </a:endParaRPr>
              </a:p>
              <a:p>
                <a:endParaRPr lang="en-US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B8B64AD-C655-44B1-A6B4-84C4FF6B95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891" y="1191237"/>
                <a:ext cx="11699444" cy="5599651"/>
              </a:xfrm>
              <a:prstGeom prst="rect">
                <a:avLst/>
              </a:prstGeom>
              <a:blipFill>
                <a:blip r:embed="rId2"/>
                <a:stretch>
                  <a:fillRect l="-416" t="-434"/>
                </a:stretch>
              </a:blipFill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ED3CC8C9-9056-4DF2-AA18-5F5D97BBE918}"/>
              </a:ext>
            </a:extLst>
          </p:cNvPr>
          <p:cNvSpPr/>
          <p:nvPr/>
        </p:nvSpPr>
        <p:spPr>
          <a:xfrm>
            <a:off x="4658411" y="2092750"/>
            <a:ext cx="2875175" cy="10558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D05D59-ED8D-482D-A030-85BC5822517E}"/>
              </a:ext>
            </a:extLst>
          </p:cNvPr>
          <p:cNvSpPr/>
          <p:nvPr/>
        </p:nvSpPr>
        <p:spPr>
          <a:xfrm>
            <a:off x="4658411" y="4337901"/>
            <a:ext cx="2875175" cy="10558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48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ACD0D6B6-9B5D-4D45-BDD9-C349BD6FF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6293" y="67112"/>
            <a:ext cx="5019413" cy="1006679"/>
          </a:xfrm>
          <a:ln>
            <a:solidFill>
              <a:schemeClr val="accent1">
                <a:lumMod val="50000"/>
              </a:schemeClr>
            </a:solidFill>
          </a:ln>
        </p:spPr>
        <p:txBody>
          <a:bodyPr anchor="t">
            <a:normAutofit/>
          </a:bodyPr>
          <a:lstStyle/>
          <a:p>
            <a:r>
              <a:rPr lang="en-US" sz="2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Furuta pendulum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B8B64AD-C655-44B1-A6B4-84C4FF6B9567}"/>
                  </a:ext>
                </a:extLst>
              </p:cNvPr>
              <p:cNvSpPr/>
              <p:nvPr/>
            </p:nvSpPr>
            <p:spPr>
              <a:xfrm>
                <a:off x="112971" y="1073791"/>
                <a:ext cx="11699444" cy="5599651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t"/>
              <a:lstStyle/>
              <a:p>
                <a:pPr/>
                <a:r>
                  <a:rPr lang="en-US" sz="1800" dirty="0">
                    <a:solidFill>
                      <a:schemeClr val="bg1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State space representation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𝐴</m:t>
                      </m:r>
                      <m:r>
                        <a:rPr lang="en-US" sz="180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800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800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168.58</m:t>
                                </m:r>
                              </m:e>
                              <m:e>
                                <m:r>
                                  <a:rPr lang="en-US" sz="1800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−0.555</m:t>
                                </m:r>
                              </m:e>
                              <m:e>
                                <m:r>
                                  <a:rPr lang="en-US" sz="1800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0.6318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−55.15</m:t>
                                </m:r>
                              </m:e>
                              <m:e>
                                <m:r>
                                  <a:rPr lang="en-US" sz="1800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0.1815</m:t>
                                </m:r>
                              </m:e>
                              <m:e>
                                <m:r>
                                  <a:rPr lang="en-US" sz="1800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−3.6745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i="1" dirty="0">
                  <a:solidFill>
                    <a:schemeClr val="bg1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/>
                <a:endParaRPr lang="en-US" sz="1800" i="1" dirty="0">
                  <a:solidFill>
                    <a:schemeClr val="bg1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−153.2631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155.066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3">
                      <a:lumMod val="75000"/>
                    </a:schemeClr>
                  </a:solidFill>
                </a:endParaRPr>
              </a:p>
              <a:p>
                <a:pPr/>
                <a:endParaRPr lang="en-US" dirty="0">
                  <a:solidFill>
                    <a:schemeClr val="accent3">
                      <a:lumMod val="75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/>
                <a:endParaRPr lang="en-US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B8B64AD-C655-44B1-A6B4-84C4FF6B95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71" y="1073791"/>
                <a:ext cx="11699444" cy="5599651"/>
              </a:xfrm>
              <a:prstGeom prst="rect">
                <a:avLst/>
              </a:prstGeom>
              <a:blipFill>
                <a:blip r:embed="rId2"/>
                <a:stretch>
                  <a:fillRect l="-416" t="-543"/>
                </a:stretch>
              </a:blipFill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51700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ACD0D6B6-9B5D-4D45-BDD9-C349BD6FF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6293" y="67112"/>
            <a:ext cx="5019413" cy="1006679"/>
          </a:xfrm>
          <a:ln>
            <a:solidFill>
              <a:schemeClr val="accent1">
                <a:lumMod val="50000"/>
              </a:schemeClr>
            </a:solidFill>
          </a:ln>
        </p:spPr>
        <p:txBody>
          <a:bodyPr anchor="t">
            <a:normAutofit/>
          </a:bodyPr>
          <a:lstStyle/>
          <a:p>
            <a:r>
              <a:rPr lang="en-US" sz="2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Furuta pendulum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8B64AD-C655-44B1-A6B4-84C4FF6B9567}"/>
              </a:ext>
            </a:extLst>
          </p:cNvPr>
          <p:cNvSpPr/>
          <p:nvPr/>
        </p:nvSpPr>
        <p:spPr>
          <a:xfrm>
            <a:off x="234891" y="1191237"/>
            <a:ext cx="11586322" cy="559965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pPr marL="285750" indent="-285750">
              <a:buFontTx/>
              <a:buChar char="-"/>
            </a:pPr>
            <a:endParaRPr lang="en-US" b="0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  <a:ea typeface="Cambria Math" panose="02040503050406030204" pitchFamily="18" charset="0"/>
              </a:rPr>
              <a:t> </a:t>
            </a:r>
            <a:endParaRPr lang="en-US" b="0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5B47BDE-7874-4CE9-BC05-D68FA32FA2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9699" y="462699"/>
            <a:ext cx="3118701" cy="311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48BAE9-88BC-4A3D-8C43-6CE03CF7E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73" y="1528544"/>
            <a:ext cx="4772979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6CBA3D-5928-4F5F-9056-63586D679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521" y="1600200"/>
            <a:ext cx="440301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918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ACD0D6B6-9B5D-4D45-BDD9-C349BD6FF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6293" y="67112"/>
            <a:ext cx="5019413" cy="1006679"/>
          </a:xfrm>
          <a:ln>
            <a:solidFill>
              <a:schemeClr val="accent1">
                <a:lumMod val="50000"/>
              </a:schemeClr>
            </a:solidFill>
          </a:ln>
        </p:spPr>
        <p:txBody>
          <a:bodyPr anchor="t">
            <a:normAutofit/>
          </a:bodyPr>
          <a:lstStyle/>
          <a:p>
            <a:r>
              <a:rPr lang="en-US" sz="2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Furuta pendulum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8B64AD-C655-44B1-A6B4-84C4FF6B9567}"/>
              </a:ext>
            </a:extLst>
          </p:cNvPr>
          <p:cNvSpPr/>
          <p:nvPr/>
        </p:nvSpPr>
        <p:spPr>
          <a:xfrm>
            <a:off x="234891" y="1191237"/>
            <a:ext cx="11586322" cy="559965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pPr marL="285750" indent="-285750">
              <a:buFontTx/>
              <a:buChar char="-"/>
            </a:pPr>
            <a:endParaRPr lang="en-US" b="0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  <a:ea typeface="Cambria Math" panose="02040503050406030204" pitchFamily="18" charset="0"/>
              </a:rPr>
              <a:t> </a:t>
            </a:r>
            <a:endParaRPr lang="en-US" b="0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5B47BDE-7874-4CE9-BC05-D68FA32FA2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9699" y="462699"/>
            <a:ext cx="3118701" cy="311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ECA317-9226-490D-A2AD-322CA48B8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4" y="1757662"/>
            <a:ext cx="11563350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852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ACD0D6B6-9B5D-4D45-BDD9-C349BD6FF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6293" y="67112"/>
            <a:ext cx="5019413" cy="1006679"/>
          </a:xfrm>
          <a:ln>
            <a:solidFill>
              <a:schemeClr val="accent1">
                <a:lumMod val="50000"/>
              </a:schemeClr>
            </a:solidFill>
          </a:ln>
        </p:spPr>
        <p:txBody>
          <a:bodyPr anchor="t">
            <a:normAutofit/>
          </a:bodyPr>
          <a:lstStyle/>
          <a:p>
            <a:r>
              <a:rPr lang="en-US" sz="2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Furuta pendulum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8B64AD-C655-44B1-A6B4-84C4FF6B9567}"/>
              </a:ext>
            </a:extLst>
          </p:cNvPr>
          <p:cNvSpPr/>
          <p:nvPr/>
        </p:nvSpPr>
        <p:spPr>
          <a:xfrm>
            <a:off x="234891" y="1191237"/>
            <a:ext cx="11586322" cy="559965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pPr marL="285750" indent="-285750">
              <a:buFontTx/>
              <a:buChar char="-"/>
            </a:pPr>
            <a:endParaRPr lang="en-US" b="0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  <a:ea typeface="Cambria Math" panose="02040503050406030204" pitchFamily="18" charset="0"/>
              </a:rPr>
              <a:t> </a:t>
            </a:r>
            <a:endParaRPr lang="en-US" b="0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5B47BDE-7874-4CE9-BC05-D68FA32FA2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9699" y="462699"/>
            <a:ext cx="3118701" cy="311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05B40F-8C66-4B2B-BB13-BAC03AA5A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553" y="1308683"/>
            <a:ext cx="6400800" cy="25403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DE73DA-32F5-413B-AD2C-7A6C4DA26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4906" y="3991062"/>
            <a:ext cx="6400800" cy="198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1763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ACD0D6B6-9B5D-4D45-BDD9-C349BD6FF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6293" y="67112"/>
            <a:ext cx="5019413" cy="1006679"/>
          </a:xfrm>
          <a:ln>
            <a:solidFill>
              <a:schemeClr val="accent1">
                <a:lumMod val="50000"/>
              </a:schemeClr>
            </a:solidFill>
          </a:ln>
        </p:spPr>
        <p:txBody>
          <a:bodyPr anchor="t">
            <a:normAutofit/>
          </a:bodyPr>
          <a:lstStyle/>
          <a:p>
            <a:r>
              <a:rPr lang="en-US" sz="2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Furuta pendulum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8B64AD-C655-44B1-A6B4-84C4FF6B9567}"/>
              </a:ext>
            </a:extLst>
          </p:cNvPr>
          <p:cNvSpPr/>
          <p:nvPr/>
        </p:nvSpPr>
        <p:spPr>
          <a:xfrm>
            <a:off x="234891" y="1191237"/>
            <a:ext cx="11586322" cy="559965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pPr marL="285750" indent="-285750">
              <a:buFontTx/>
              <a:buChar char="-"/>
            </a:pPr>
            <a:endParaRPr lang="en-US" b="0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  <a:ea typeface="Cambria Math" panose="02040503050406030204" pitchFamily="18" charset="0"/>
              </a:rPr>
              <a:t> </a:t>
            </a:r>
            <a:endParaRPr lang="en-US" b="0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5B47BDE-7874-4CE9-BC05-D68FA32FA2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9699" y="462699"/>
            <a:ext cx="3118701" cy="311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E7A981-3945-43AB-AD7D-B66F84DB9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556" y="1191237"/>
            <a:ext cx="6424863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F3405B-10EF-43AC-89A4-16651FA4F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556" y="3976987"/>
            <a:ext cx="6424863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8959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ACD0D6B6-9B5D-4D45-BDD9-C349BD6FF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6293" y="67112"/>
            <a:ext cx="5019413" cy="1006679"/>
          </a:xfrm>
          <a:ln>
            <a:solidFill>
              <a:schemeClr val="accent1">
                <a:lumMod val="50000"/>
              </a:schemeClr>
            </a:solidFill>
          </a:ln>
        </p:spPr>
        <p:txBody>
          <a:bodyPr anchor="t">
            <a:normAutofit/>
          </a:bodyPr>
          <a:lstStyle/>
          <a:p>
            <a:r>
              <a:rPr lang="en-US" sz="2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Furuta pendulum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8B64AD-C655-44B1-A6B4-84C4FF6B9567}"/>
              </a:ext>
            </a:extLst>
          </p:cNvPr>
          <p:cNvSpPr/>
          <p:nvPr/>
        </p:nvSpPr>
        <p:spPr>
          <a:xfrm>
            <a:off x="234891" y="1191237"/>
            <a:ext cx="11586322" cy="559965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pPr marL="285750" indent="-285750">
              <a:buFontTx/>
              <a:buChar char="-"/>
            </a:pPr>
            <a:endParaRPr lang="en-US" b="0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  <a:ea typeface="Cambria Math" panose="02040503050406030204" pitchFamily="18" charset="0"/>
              </a:rPr>
              <a:t> </a:t>
            </a:r>
            <a:endParaRPr lang="en-US" b="0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5B47BDE-7874-4CE9-BC05-D68FA32FA2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9699" y="462699"/>
            <a:ext cx="3118701" cy="311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C0485F-89DF-4F94-8FD2-F435FA9A9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79" y="2162262"/>
            <a:ext cx="10158412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8600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ACD0D6B6-9B5D-4D45-BDD9-C349BD6FF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6293" y="67112"/>
            <a:ext cx="5019413" cy="1006679"/>
          </a:xfrm>
          <a:ln>
            <a:solidFill>
              <a:schemeClr val="accent1">
                <a:lumMod val="50000"/>
              </a:schemeClr>
            </a:solidFill>
          </a:ln>
        </p:spPr>
        <p:txBody>
          <a:bodyPr anchor="t">
            <a:normAutofit/>
          </a:bodyPr>
          <a:lstStyle/>
          <a:p>
            <a:r>
              <a:rPr lang="en-US" sz="2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Furuta pendulum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8B64AD-C655-44B1-A6B4-84C4FF6B9567}"/>
              </a:ext>
            </a:extLst>
          </p:cNvPr>
          <p:cNvSpPr/>
          <p:nvPr/>
        </p:nvSpPr>
        <p:spPr>
          <a:xfrm>
            <a:off x="234891" y="1191237"/>
            <a:ext cx="11586322" cy="559965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pPr marL="285750" indent="-285750">
              <a:buFontTx/>
              <a:buChar char="-"/>
            </a:pPr>
            <a:endParaRPr lang="en-US" b="0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  <a:ea typeface="Cambria Math" panose="02040503050406030204" pitchFamily="18" charset="0"/>
              </a:rPr>
              <a:t> </a:t>
            </a:r>
            <a:endParaRPr lang="en-US" b="0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5B47BDE-7874-4CE9-BC05-D68FA32FA2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9699" y="462699"/>
            <a:ext cx="3118701" cy="311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F798EC-E426-405D-B972-80617C821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699" y="1233787"/>
            <a:ext cx="5303954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6542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ACD0D6B6-9B5D-4D45-BDD9-C349BD6FF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6293" y="67112"/>
            <a:ext cx="5019413" cy="1006679"/>
          </a:xfrm>
          <a:ln>
            <a:solidFill>
              <a:schemeClr val="accent1">
                <a:lumMod val="50000"/>
              </a:schemeClr>
            </a:solidFill>
          </a:ln>
        </p:spPr>
        <p:txBody>
          <a:bodyPr anchor="t">
            <a:normAutofit/>
          </a:bodyPr>
          <a:lstStyle/>
          <a:p>
            <a:r>
              <a:rPr lang="en-US" sz="2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Furuta pendulum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8B64AD-C655-44B1-A6B4-84C4FF6B9567}"/>
              </a:ext>
            </a:extLst>
          </p:cNvPr>
          <p:cNvSpPr/>
          <p:nvPr/>
        </p:nvSpPr>
        <p:spPr>
          <a:xfrm>
            <a:off x="234891" y="1191237"/>
            <a:ext cx="11586322" cy="559965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pPr marL="285750" indent="-285750">
              <a:buFontTx/>
              <a:buChar char="-"/>
            </a:pPr>
            <a:endParaRPr lang="en-US" b="0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  <a:ea typeface="Cambria Math" panose="02040503050406030204" pitchFamily="18" charset="0"/>
              </a:rPr>
              <a:t> </a:t>
            </a:r>
            <a:endParaRPr lang="en-US" b="0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5B47BDE-7874-4CE9-BC05-D68FA32FA2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9699" y="462699"/>
            <a:ext cx="3118701" cy="311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E7A981-3945-43AB-AD7D-B66F84DB9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556" y="1191237"/>
            <a:ext cx="6424863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F3405B-10EF-43AC-89A4-16651FA4F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556" y="3976987"/>
            <a:ext cx="6424863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9118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ACD0D6B6-9B5D-4D45-BDD9-C349BD6FF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6293" y="67112"/>
            <a:ext cx="5019413" cy="1006679"/>
          </a:xfrm>
          <a:ln>
            <a:solidFill>
              <a:schemeClr val="accent1">
                <a:lumMod val="50000"/>
              </a:schemeClr>
            </a:solidFill>
          </a:ln>
        </p:spPr>
        <p:txBody>
          <a:bodyPr anchor="t">
            <a:normAutofit/>
          </a:bodyPr>
          <a:lstStyle/>
          <a:p>
            <a:r>
              <a:rPr lang="en-US" sz="2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Furuta pendulum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8B64AD-C655-44B1-A6B4-84C4FF6B9567}"/>
              </a:ext>
            </a:extLst>
          </p:cNvPr>
          <p:cNvSpPr/>
          <p:nvPr/>
        </p:nvSpPr>
        <p:spPr>
          <a:xfrm>
            <a:off x="234891" y="1191237"/>
            <a:ext cx="11586322" cy="559965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pPr marL="285750" indent="-285750">
              <a:buFontTx/>
              <a:buChar char="-"/>
            </a:pPr>
            <a:endParaRPr lang="en-US" b="0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  <a:ea typeface="Cambria Math" panose="02040503050406030204" pitchFamily="18" charset="0"/>
              </a:rPr>
              <a:t> </a:t>
            </a:r>
            <a:endParaRPr lang="en-US" b="0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5B47BDE-7874-4CE9-BC05-D68FA32FA2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9699" y="462699"/>
            <a:ext cx="3118701" cy="311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8C50E1-EA3D-4A3B-97AA-D5FED443D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371" y="1348056"/>
            <a:ext cx="7898199" cy="2286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F3F537-FC37-4E82-BDB8-14765F180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640" y="3790874"/>
            <a:ext cx="7803931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0164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9AF3E5-3C16-4B47-995C-B8FEF49EB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781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372</TotalTime>
  <Words>408</Words>
  <Application>Microsoft Office PowerPoint</Application>
  <PresentationFormat>Widescreen</PresentationFormat>
  <Paragraphs>119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Cambria Math</vt:lpstr>
      <vt:lpstr>Gill Sans MT</vt:lpstr>
      <vt:lpstr>Times New Roman</vt:lpstr>
      <vt:lpstr>Parcel</vt:lpstr>
      <vt:lpstr>Project_Furuta pendulum </vt:lpstr>
      <vt:lpstr>Furuta pendulum </vt:lpstr>
      <vt:lpstr>Furuta pendulum </vt:lpstr>
      <vt:lpstr>Furuta pendulum </vt:lpstr>
      <vt:lpstr>Furuta pendulum </vt:lpstr>
      <vt:lpstr>Furuta pendulum </vt:lpstr>
      <vt:lpstr>Furuta pendulum </vt:lpstr>
      <vt:lpstr>Furuta pendulum </vt:lpstr>
      <vt:lpstr>Furuta pendulum </vt:lpstr>
      <vt:lpstr>Furuta pendulum </vt:lpstr>
      <vt:lpstr>Furuta pendulum </vt:lpstr>
      <vt:lpstr>Furuta pendulum </vt:lpstr>
      <vt:lpstr>Furuta pendulum </vt:lpstr>
      <vt:lpstr>Furuta pendulum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Project_Furuta pendulum </dc:title>
  <dc:creator>Hussein Itani</dc:creator>
  <cp:lastModifiedBy>Hussein Itani</cp:lastModifiedBy>
  <cp:revision>1</cp:revision>
  <dcterms:created xsi:type="dcterms:W3CDTF">2025-12-14T18:51:39Z</dcterms:created>
  <dcterms:modified xsi:type="dcterms:W3CDTF">2025-12-15T01:03:43Z</dcterms:modified>
</cp:coreProperties>
</file>